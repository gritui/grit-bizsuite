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8.png"/><Relationship Id="rId10" Type="http://schemas.openxmlformats.org/officeDocument/2006/relationships/image" Target="../media/image-5-8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840480" cy="384048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SaaS Platform.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Front-Line Operation.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inventory, ops and reporting — four best-in-class apps, one connected platform for SMEs.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2834640" cy="502920"/>
          </a:xfrm>
          <a:prstGeom prst="rect">
            <a:avLst>
              <a:gd name="adj" fmla="val 10909"/>
            </a:avLst>
          </a:prstGeom>
          <a:solidFill>
            <a:srgbClr val="00D2A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257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PITCH DECK — SKELETON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presenter name, title, date, prospect/company]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SMEs run on four disconnected point solutions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shop stitches together a POS, a spreadsheet for stock, a chat group for tasks, and a nightly Excel export — each one blind to the others.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063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tmp/claude-0/-home-user-grit-bizsuite/cc298292-c13c-5104-ab4d-6e807a88b0e2/scratchpad/pitch/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844" y="3187964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tools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343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stock, ops and reporting live in separate logins with no shared source of truth.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697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063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tmp/claude-0/-home-user-grit-bizsuite/cc298292-c13c-5104-ab4d-6e807a88b0e2/scratchpad/pitch/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164" y="3187964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reconciliation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63440" y="4343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re-key sales into spreadsheets; stock counts drift from what actually sold.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69748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3063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tmp/claude-0/-home-user-grit-bizsuite/cc298292-c13c-5104-ab4d-6e807a88b0e2/scratchpad/pitch/icons/wifi-s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484" y="318796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spots at the edge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66760" y="4343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stockout, a slow line, or a bad shift goes unnoticed until it already cost revenue.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Four connected apps. Zero re-keying.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gives every app its own front door — but they speak a shared event language underneath, so a sale in POS updates stock, and low stock opens a task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538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whole suite, or start with just POS — apps run standalone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4087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0565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0416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event-driven sync — no nightly batch jobs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65429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7258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46085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and tiered plans built in from day one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223760" y="1737360"/>
            <a:ext cx="4297680" cy="4114800"/>
          </a:xfrm>
          <a:prstGeom prst="roundRect">
            <a:avLst>
              <a:gd name="adj" fmla="val 3111"/>
            </a:avLst>
          </a:prstGeom>
          <a:solidFill>
            <a:srgbClr val="1E2761"/>
          </a:solidFill>
          <a:ln/>
        </p:spPr>
      </p:sp>
      <p:sp>
        <p:nvSpPr>
          <p:cNvPr id="15" name="Text 10"/>
          <p:cNvSpPr/>
          <p:nvPr/>
        </p:nvSpPr>
        <p:spPr>
          <a:xfrm>
            <a:off x="722376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D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589520" y="251460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2A3878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0" y="2633472"/>
            <a:ext cx="475488" cy="475488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18" name="Image 3" descr="/tmp/claude-0/-home-user-grit-bizsuite/cc298292-c13c-5104-ab4d-6e807a88b0e2/scratchpad/pitch/icons/cash-regi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385" y="2740457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25146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589520" y="338328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2A3878"/>
          </a:solidFill>
          <a:ln/>
        </p:spPr>
      </p:sp>
      <p:sp>
        <p:nvSpPr>
          <p:cNvPr id="21" name="Shape 15"/>
          <p:cNvSpPr/>
          <p:nvPr/>
        </p:nvSpPr>
        <p:spPr>
          <a:xfrm>
            <a:off x="7772400" y="3502152"/>
            <a:ext cx="475488" cy="475488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22" name="Image 4" descr="/tmp/claude-0/-home-user-grit-bizsuite/cc298292-c13c-5104-ab4d-6e807a88b0e2/scratchpad/pitch/icons/warehou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385" y="3609137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12480" y="33832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7589520" y="425196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2A3878"/>
          </a:solidFill>
          <a:ln/>
        </p:spPr>
      </p:sp>
      <p:sp>
        <p:nvSpPr>
          <p:cNvPr id="25" name="Shape 18"/>
          <p:cNvSpPr/>
          <p:nvPr/>
        </p:nvSpPr>
        <p:spPr>
          <a:xfrm>
            <a:off x="7772400" y="4370832"/>
            <a:ext cx="475488" cy="475488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26" name="Image 5" descr="/tmp/claude-0/-home-user-grit-bizsuite/cc298292-c13c-5104-ab4d-6e807a88b0e2/scratchpad/pitch/icons/task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9385" y="4477817"/>
            <a:ext cx="261518" cy="26151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12480" y="4251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Taskboard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589520" y="51206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2A3878"/>
          </a:solidFill>
          <a:ln/>
        </p:spPr>
      </p:sp>
      <p:sp>
        <p:nvSpPr>
          <p:cNvPr id="29" name="Shape 21"/>
          <p:cNvSpPr/>
          <p:nvPr/>
        </p:nvSpPr>
        <p:spPr>
          <a:xfrm>
            <a:off x="7772400" y="5239512"/>
            <a:ext cx="475488" cy="475488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30" name="Image 6" descr="/tmp/claude-0/-home-user-grit-bizsuite/cc298292-c13c-5104-ab4d-6e807a88b0e2/scratchpad/pitch/icons/chart-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9385" y="5346497"/>
            <a:ext cx="261518" cy="26151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412480" y="51206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suite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apps, each strong enough to sell on its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laude-0/-home-user-grit-bizsuite/cc298292-c13c-5104-ab4d-6e807a88b0e2/scratchpad/pitch/icons/cash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" y="2243023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39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grit-pos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359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FRONT-OF-HOUSE CHECKOUT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register, QR dine-in and pickup links; offline-first tender queue keeps ringing sales when the connection drops.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0312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tmp/claude-0/-home-user-grit-bizsuite/cc298292-c13c-5104-ab4d-6e807a88b0e2/scratchpad/pitch/icons/wareh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43" y="2243023"/>
            <a:ext cx="341986" cy="3419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39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grit-inventory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269480" y="2359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STOCK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92240" y="2834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stock, internal transfer orders, FIFO cost lots and barcode scanning across every location.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3434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tmp/claude-0/-home-user-grit-bizsuite/cc298292-c13c-5104-ab4d-6e807a88b0e2/scratchpad/pitch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" y="4483303"/>
            <a:ext cx="341986" cy="3419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2793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grit-taskboard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691640" y="45994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KANBAN &amp; AUTOMATION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14400" y="50749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/ in-progress / review / done board; low-stock and surge events auto-create the right task for the right shift.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17920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3434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tmp/claude-0/-home-user-grit-bizsuite/cc298292-c13c-5104-ab4d-6e807a88b0e2/scratchpad/pitch/icons/chart-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143" y="4483303"/>
            <a:ext cx="341986" cy="3419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9480" y="42793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grit-reports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269480" y="45994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REPORTING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492240" y="50749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labor-efficiency and custom analytics pulled live from POS, inventory and ops — no manual export.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apps, one shared event stream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keeps its own database and can be deployed on its own. They stay in sync through signed events — never by reaching into each other's data directly.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3708" y="26517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295248" y="2852928"/>
            <a:ext cx="548640" cy="5486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7" name="Image 0" descr="/tmp/claude-0/-home-user-grit-bizsuite/cc298292-c13c-5104-ab4d-6e807a88b0e2/scratchpad/pitch/icons/cash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692" y="297637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3708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95448" y="3154680"/>
            <a:ext cx="365760" cy="3657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0" name="Image 1" descr="/tmp/claude-0/-home-user-grit-bizsuite/cc298292-c13c-5104-ab4d-6e807a88b0e2/scratchpad/pitch/icons/arrow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168" y="320040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1228" y="26517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4312768" y="2852928"/>
            <a:ext cx="548640" cy="5486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13" name="Image 2" descr="/tmp/claude-0/-home-user-grit-bizsuite/cc298292-c13c-5104-ab4d-6e807a88b0e2/scratchpad/pitch/icons/warehou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212" y="2976372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1228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912968" y="3154680"/>
            <a:ext cx="365760" cy="3657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6" name="Image 3" descr="/tmp/claude-0/-home-user-grit-bizsuite/cc298292-c13c-5104-ab4d-6e807a88b0e2/scratchpad/pitch/icons/arrow-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88" y="320040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38748" y="26517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8" name="Shape 12"/>
          <p:cNvSpPr/>
          <p:nvPr/>
        </p:nvSpPr>
        <p:spPr>
          <a:xfrm>
            <a:off x="7330288" y="2852928"/>
            <a:ext cx="548640" cy="5486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19" name="Image 4" descr="/tmp/claude-0/-home-user-grit-bizsuite/cc298292-c13c-5104-ab4d-6e807a88b0e2/scratchpad/pitch/icons/tas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3732" y="2976372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38748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Taskboard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8930488" y="3154680"/>
            <a:ext cx="365760" cy="3657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22" name="Image 5" descr="/tmp/claude-0/-home-user-grit-bizsuite/cc298292-c13c-5104-ab4d-6e807a88b0e2/scratchpad/pitch/icons/arrow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208" y="3200400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456268" y="26517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4" name="Shape 16"/>
          <p:cNvSpPr/>
          <p:nvPr/>
        </p:nvSpPr>
        <p:spPr>
          <a:xfrm>
            <a:off x="10347808" y="2852928"/>
            <a:ext cx="548640" cy="5486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25" name="Image 6" descr="/tmp/claude-0/-home-user-grit-bizsuite/cc298292-c13c-5104-ab4d-6e807a88b0e2/scratchpad/pitch/icons/chart-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1252" y="2976372"/>
            <a:ext cx="301752" cy="30175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456268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220828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transaction.completed</a:t>
            </a:r>
            <a:endParaRPr lang="en-US" sz="950" dirty="0"/>
          </a:p>
        </p:txBody>
      </p:sp>
      <p:sp>
        <p:nvSpPr>
          <p:cNvPr id="28" name="Text 19"/>
          <p:cNvSpPr/>
          <p:nvPr/>
        </p:nvSpPr>
        <p:spPr>
          <a:xfrm>
            <a:off x="3238348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inventory.threshold_breached</a:t>
            </a:r>
            <a:endParaRPr lang="en-US" sz="950" dirty="0"/>
          </a:p>
        </p:txBody>
      </p:sp>
      <p:sp>
        <p:nvSpPr>
          <p:cNvPr id="29" name="Text 20"/>
          <p:cNvSpPr/>
          <p:nvPr/>
        </p:nvSpPr>
        <p:spPr>
          <a:xfrm>
            <a:off x="6255868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task.completed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9273388" y="4160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aggregates all events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640080" y="5074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webhooks · durable Postgres outbox with retry · event contracts versioned in a shared package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40080" y="565099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7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" y="5664708"/>
            <a:ext cx="246888" cy="2468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24128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one app today, add the rest later — no re-platforming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4160520" y="565099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8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4236" y="5664708"/>
            <a:ext cx="246888" cy="24688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544568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app's outage never takes the others down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7680960" y="565099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9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4676" y="5664708"/>
            <a:ext cx="246888" cy="24688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065008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automations plug into the same event bus</a:t>
            </a:r>
            <a:endParaRPr lang="en-US" sz="1050" dirty="0"/>
          </a:p>
        </p:txBody>
      </p:sp>
      <p:sp>
        <p:nvSpPr>
          <p:cNvPr id="4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how SMEs actually operate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6" name="Image 0" descr="/tmp/claude-0/-home-user-grit-bizsuite/cc298292-c13c-5104-ab4d-6e807a88b0e2/scratchpad/pitch/icons/wifi-s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1808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checkout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keeps selling on a dropped connection and syncs idempotently the moment it's back — no lost sales, no duplicates.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11" name="Image 1" descr="/tmp/claude-0/-home-user-grit-bizsuite/cc298292-c13c-5104-ab4d-6e807a88b0e2/scratchpad/pitch/icons/layer-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21808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7568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multi-location + FIFO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9224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stock, internal transfers and FIFO cost lots give accurate COGS across locations, not just one warehouse.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16" name="Image 2" descr="/tmp/claude-0/-home-user-grit-bizsuite/cc298292-c13c-5104-ab4d-6e807a88b0e2/scratchpad/pitch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375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70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Automation, not dashboards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stockout doesn't just show red on a chart — it opens a task for the right person automatically.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548640" cy="5486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21" name="Image 3" descr="/tmp/claude-0/-home-user-grit-bizsuite/cc298292-c13c-5104-ab4d-6e807a88b0e2/scratchpad/pitch/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43754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702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Standalone-yet-integrated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has its own deploy and database; adopt one or all four without a fragile monolith migration.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SaaS pricing that grows with the customer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3977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496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POS, offline-first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[ADD: $/mo]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60120" y="3657600"/>
            <a:ext cx="237744" cy="237744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9" name="Image 0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3675431"/>
            <a:ext cx="202082" cy="2020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35753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checkout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60120" y="4160520"/>
            <a:ext cx="237744" cy="237744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2" name="Image 1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51" y="4178351"/>
            <a:ext cx="202082" cy="2020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4078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sales queue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60120" y="4663440"/>
            <a:ext cx="237744" cy="237744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5" name="Image 2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51" y="4681271"/>
            <a:ext cx="202082" cy="2020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45811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location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343400" y="1783080"/>
            <a:ext cx="3383280" cy="397764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57800" y="15819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0D2A0"/>
          </a:solidFill>
          <a:ln/>
        </p:spPr>
      </p:sp>
      <p:sp>
        <p:nvSpPr>
          <p:cNvPr id="19" name="Text 14"/>
          <p:cNvSpPr/>
          <p:nvPr/>
        </p:nvSpPr>
        <p:spPr>
          <a:xfrm>
            <a:off x="5257800" y="1581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66344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4663440" y="2496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+ single-location inventory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66344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[ADD: $/mo]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273A85"/>
          </a:solidFill>
          <a:ln/>
        </p:spPr>
      </p:sp>
      <p:pic>
        <p:nvPicPr>
          <p:cNvPr id="24" name="Image 3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271" y="3675431"/>
            <a:ext cx="202082" cy="20208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01768" y="35753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Lite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663440" y="4160520"/>
            <a:ext cx="237744" cy="237744"/>
          </a:xfrm>
          <a:prstGeom prst="ellipse">
            <a:avLst/>
          </a:prstGeom>
          <a:solidFill>
            <a:srgbClr val="273A85"/>
          </a:solidFill>
          <a:ln/>
        </p:spPr>
      </p:sp>
      <p:pic>
        <p:nvPicPr>
          <p:cNvPr id="27" name="Image 4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271" y="4178351"/>
            <a:ext cx="202082" cy="20208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01768" y="4078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(single location)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663440" y="4663440"/>
            <a:ext cx="237744" cy="237744"/>
          </a:xfrm>
          <a:prstGeom prst="ellipse">
            <a:avLst/>
          </a:prstGeom>
          <a:solidFill>
            <a:srgbClr val="273A85"/>
          </a:solidFill>
          <a:ln/>
        </p:spPr>
      </p:sp>
      <p:pic>
        <p:nvPicPr>
          <p:cNvPr id="30" name="Image 5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271" y="4681271"/>
            <a:ext cx="202082" cy="20208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01768" y="45811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Reports addon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046720" y="1783080"/>
            <a:ext cx="3383280" cy="3977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0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836676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000" dirty="0"/>
          </a:p>
        </p:txBody>
      </p:sp>
      <p:sp>
        <p:nvSpPr>
          <p:cNvPr id="34" name="Text 26"/>
          <p:cNvSpPr/>
          <p:nvPr/>
        </p:nvSpPr>
        <p:spPr>
          <a:xfrm>
            <a:off x="8366760" y="2496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suite, multi-location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836676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[ADD: $/mo]</a:t>
            </a:r>
            <a:endParaRPr lang="en-US" sz="2200" dirty="0"/>
          </a:p>
        </p:txBody>
      </p:sp>
      <p:sp>
        <p:nvSpPr>
          <p:cNvPr id="36" name="Shape 28"/>
          <p:cNvSpPr/>
          <p:nvPr/>
        </p:nvSpPr>
        <p:spPr>
          <a:xfrm>
            <a:off x="8366760" y="3657600"/>
            <a:ext cx="237744" cy="237744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37" name="Image 6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4591" y="3675431"/>
            <a:ext cx="202082" cy="20208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05088" y="35753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366760" y="4160520"/>
            <a:ext cx="237744" cy="237744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40" name="Image 7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4591" y="4178351"/>
            <a:ext cx="202082" cy="20208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705088" y="4078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+ transfers + FIFO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8366760" y="4663440"/>
            <a:ext cx="237744" cy="237744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43" name="Image 8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4591" y="4681271"/>
            <a:ext cx="202082" cy="20208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705088" y="45811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Taskboard automation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640080" y="5943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custom_reporting addon unlocks cross-app analytics from GROWTH tier up</a:t>
            </a:r>
            <a:endParaRPr lang="en-US" sz="1150" dirty="0"/>
          </a:p>
        </p:txBody>
      </p:sp>
      <p:sp>
        <p:nvSpPr>
          <p:cNvPr id="46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47" name="Text 3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SMEs with real front-line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laude-0/-home-user-grit-bizsuite/cc298292-c13c-5104-ab4d-6e807a88b0e2/scratchpad/pitch/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844" y="222784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hospitality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 and restaurants needing QR dine-in, pickup links and fast, resilient checkout.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claude-0/-home-user-grit-bizsuite/cc298292-c13c-5104-ab4d-6e807a88b0e2/scratchpad/pitch/icons/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164" y="222784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Multi-location retail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chains that need stock visibility and transfers across stores, not just one.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claude-0/-home-user-grit-bizsuite/cc298292-c13c-5104-ab4d-6e807a88b0e2/scratchpad/pitch/icons/box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484" y="222784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SME operators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3291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Owner-operators outgrowing spreadsheets who need ops and reporting without enterprise overhead.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960120" y="4663440"/>
            <a:ext cx="777240" cy="77724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21" name="Image 3" descr="/tmp/claude-0/-home-user-grit-bizsuite/cc298292-c13c-5104-ab4d-6e807a88b0e2/scratchpad/pitch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999" y="483831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553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965960" y="489204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employee count, revenue band, # locations, region, current tools they'll replace]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with one app, expand into the suite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POS or Inventory standalone to solve today's most painful gap.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36392" y="3465576"/>
            <a:ext cx="292608" cy="292608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9" name="Image 0" descr="/tmp/claude-0/-home-user-grit-bizsuite/cc298292-c13c-5104-ab4d-6e807a88b0e2/scratchpad/pitch/icons/arrow-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653" y="3494837"/>
            <a:ext cx="234086" cy="23408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10712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878"/>
          </a:solidFill>
          <a:ln/>
        </p:spPr>
      </p:sp>
      <p:sp>
        <p:nvSpPr>
          <p:cNvPr id="11" name="Text 8"/>
          <p:cNvSpPr/>
          <p:nvPr/>
        </p:nvSpPr>
        <p:spPr>
          <a:xfrm>
            <a:off x="3639312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639312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39312" y="338328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automations show value fast — fewer stockouts, faster ops.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07024" y="3465576"/>
            <a:ext cx="292608" cy="292608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5" name="Image 1" descr="/tmp/claude-0/-home-user-grit-bizsuite/cc298292-c13c-5104-ab4d-6e807a88b0e2/scratchpad/pitch/icons/arrow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285" y="3494837"/>
            <a:ext cx="234086" cy="23408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81344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6409944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6409944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409944" y="338328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into GROWTH / SCALE as they add locations and need reporting.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677656" y="3465576"/>
            <a:ext cx="292608" cy="292608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21" name="Image 2" descr="/tmp/claude-0/-home-user-grit-bizsuite/cc298292-c13c-5104-ab4d-6e807a88b0e2/scratchpad/pitch/icons/arrow-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917" y="3494837"/>
            <a:ext cx="234086" cy="23408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951976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A3878"/>
          </a:solidFill>
          <a:ln/>
        </p:spPr>
      </p:sp>
      <p:sp>
        <p:nvSpPr>
          <p:cNvPr id="23" name="Text 18"/>
          <p:cNvSpPr/>
          <p:nvPr/>
        </p:nvSpPr>
        <p:spPr>
          <a:xfrm>
            <a:off x="9180576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9180576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9180576" y="338328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rises with every connected app and automation in place.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channels (direct sales, POS resellers, F&amp;B associations, referrals), CAC/payback assumptions]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where we're headed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[ADD]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947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[ADD]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2679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PROCESSED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19476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[ADD]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21040" y="2679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TIER UPGRADE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384048" cy="384048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15" name="Image 0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" y="4071366"/>
            <a:ext cx="288036" cy="28803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88720" y="3986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0" y="398678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suite live: POS, Inventory, Taskboard, Reports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32104" y="4407408"/>
            <a:ext cx="0" cy="320040"/>
          </a:xfrm>
          <a:prstGeom prst="line">
            <a:avLst/>
          </a:prstGeom>
          <a:noFill/>
          <a:ln w="19050">
            <a:solidFill>
              <a:srgbClr val="E2E8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4736592"/>
            <a:ext cx="384048" cy="384048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20" name="Image 1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" y="4784598"/>
            <a:ext cx="288036" cy="2880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88720" y="47000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next]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926080" y="470001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e.g. payments expansion, new verticals]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32104" y="5120640"/>
            <a:ext cx="0" cy="320040"/>
          </a:xfrm>
          <a:prstGeom prst="line">
            <a:avLst/>
          </a:prstGeom>
          <a:noFill/>
          <a:ln w="19050">
            <a:solidFill>
              <a:srgbClr val="E2E8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0080" y="5449824"/>
            <a:ext cx="384048" cy="384048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25" name="Image 2" descr="/tmp/claude-0/-home-user-grit-bizsuite/cc298292-c13c-5104-ab4d-6e807a88b0e2/scratchpad/pitch/icons/check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6" y="5497830"/>
            <a:ext cx="288036" cy="2880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88720" y="5413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later]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926080" y="541324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e.g. marketplace integrations, AI insights]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 — SaaS Pitch (Skeleton)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BizSuite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943600" cy="594360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put Grit BizSuite to work in your operation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A387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3154680"/>
            <a:ext cx="502920" cy="50292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7" name="Image 0" descr="/tmp/claude-0/-home-user-grit-bizsuite/cc298292-c13c-5104-ab4d-6e807a88b0e2/scratchpad/pitch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437" y="32678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9728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e.g. 30-day pilot on POS at one location]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28803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A3878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3154680"/>
            <a:ext cx="502920" cy="50292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12" name="Image 1" descr="/tmp/claude-0/-home-user-grit-bizsuite/cc298292-c13c-5104-ab4d-6e807a88b0e2/scratchpad/pitch/icons/user-fri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317" y="32678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916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who needs to be in the room to decide]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28803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A3878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3154680"/>
            <a:ext cx="502920" cy="502920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17" name="Image 2" descr="/tmp/claude-0/-home-user-grit-bizsuite/cc298292-c13c-5104-ab4d-6e807a88b0e2/scratchpad/pitch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197" y="32678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776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2104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proposal / demo / contract date]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3A4A9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5349240"/>
            <a:ext cx="384048" cy="384048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22" name="Image 3" descr="/tmp/claude-0/-home-user-grit-bizsuite/cc298292-c13c-5104-ab4d-6e807a88b0e2/scratchpad/pitch/icons/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71" y="5435651"/>
            <a:ext cx="211226" cy="2112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presenter email]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394960" y="5349240"/>
            <a:ext cx="384048" cy="384048"/>
          </a:xfrm>
          <a:prstGeom prst="ellipse">
            <a:avLst/>
          </a:prstGeom>
          <a:solidFill>
            <a:srgbClr val="00D2A0"/>
          </a:solidFill>
          <a:ln/>
        </p:spPr>
      </p:sp>
      <p:pic>
        <p:nvPicPr>
          <p:cNvPr id="25" name="Image 4" descr="/tmp/claude-0/-home-user-grit-bizsuite/cc298292-c13c-5104-ab4d-6e807a88b0e2/scratchpad/pitch/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371" y="5435651"/>
            <a:ext cx="211226" cy="21122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943600" y="5440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website / booking link]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2026-08-13T05:09:28Z</dcterms:created>
  <dcterms:modified xsi:type="dcterms:W3CDTF">2026-08-13T05:09:28Z</dcterms:modified>
</cp:coreProperties>
</file>